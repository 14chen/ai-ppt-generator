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强调效率提升的实际案例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858500" y="-11811000"/>
            <a:ext cx="18097500" cy="18097500"/>
          </a:xfrm>
          <a:prstGeom prst="ellipse">
            <a:avLst/>
          </a:prstGeom>
          <a:solidFill>
            <a:srgbClr val="32D69B">
              <a:alpha val="6000"/>
            </a:srgbClr>
          </a:solidFill>
          <a:ln w="12700">
            <a:solidFill>
              <a:srgbClr val="0C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4500" y="5334000"/>
            <a:ext cx="10477500" cy="10477500"/>
          </a:xfrm>
          <a:prstGeom prst="ellipse">
            <a:avLst/>
          </a:prstGeom>
          <a:solidFill>
            <a:srgbClr val="A9E05F">
              <a:alpha val="4000"/>
            </a:srgbClr>
          </a:solidFill>
          <a:ln w="12700">
            <a:solidFill>
              <a:srgbClr val="0C1F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771650"/>
            <a:ext cx="10820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32D6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从试点到规模化：关键数据与行动建议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324100"/>
            <a:ext cx="10058400" cy="175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5850" b="1" dirty="0">
                <a:solidFill>
                  <a:srgbClr val="E9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2024年企业级AI应用落地调研报告</a:t>
            </a:r>
            <a:endParaRPr lang="en-US" sz="5850" dirty="0"/>
          </a:p>
        </p:txBody>
      </p:sp>
      <p:sp>
        <p:nvSpPr>
          <p:cNvPr id="6" name="Shape 4"/>
          <p:cNvSpPr/>
          <p:nvPr/>
        </p:nvSpPr>
        <p:spPr>
          <a:xfrm>
            <a:off x="5657850" y="4287012"/>
            <a:ext cx="876300" cy="57150"/>
          </a:xfrm>
          <a:prstGeom prst="roundRect">
            <a:avLst>
              <a:gd name="adj" fmla="val 48000"/>
            </a:avLst>
          </a:prstGeom>
          <a:solidFill>
            <a:srgbClr val="32D69B"/>
          </a:solidFill>
          <a:ln w="12700">
            <a:solidFill>
              <a:srgbClr val="32D69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48087" y="4610862"/>
            <a:ext cx="2190750" cy="381000"/>
          </a:xfrm>
          <a:prstGeom prst="roundRect">
            <a:avLst>
              <a:gd name="adj" fmla="val 120000"/>
            </a:avLst>
          </a:prstGeom>
          <a:solidFill>
            <a:srgbClr val="123026"/>
          </a:solidFill>
          <a:ln w="12700">
            <a:solidFill>
              <a:srgbClr val="1B3A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8087" y="4610862"/>
            <a:ext cx="219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8DB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调研覆盖412家企业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6072188" y="4610862"/>
            <a:ext cx="2371725" cy="381000"/>
          </a:xfrm>
          <a:prstGeom prst="roundRect">
            <a:avLst>
              <a:gd name="adj" fmla="val 120000"/>
            </a:avLst>
          </a:prstGeom>
          <a:solidFill>
            <a:srgbClr val="123026"/>
          </a:solidFill>
          <a:ln w="12700">
            <a:solidFill>
              <a:srgbClr val="1B3A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72188" y="4610862"/>
            <a:ext cx="2371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8DB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节选核心发现与行动方案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685800" y="6400800"/>
            <a:ext cx="762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DB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2024年企业级AI应用落地调研报告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0363200" y="640080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8DB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858500" y="-11811000"/>
            <a:ext cx="18097500" cy="18097500"/>
          </a:xfrm>
          <a:prstGeom prst="ellipse">
            <a:avLst/>
          </a:prstGeom>
          <a:solidFill>
            <a:srgbClr val="32D69B">
              <a:alpha val="6000"/>
            </a:srgbClr>
          </a:solidFill>
          <a:ln w="12700">
            <a:solidFill>
              <a:srgbClr val="0C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4500" y="5334000"/>
            <a:ext cx="10477500" cy="10477500"/>
          </a:xfrm>
          <a:prstGeom prst="ellipse">
            <a:avLst/>
          </a:prstGeom>
          <a:solidFill>
            <a:srgbClr val="A9E05F">
              <a:alpha val="4000"/>
            </a:srgbClr>
          </a:solidFill>
          <a:ln w="12700">
            <a:solidFill>
              <a:srgbClr val="0C1F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28750"/>
            <a:ext cx="108204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0" b="1" dirty="0">
                <a:solidFill>
                  <a:srgbClr val="32D6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750" dirty="0"/>
          </a:p>
        </p:txBody>
      </p:sp>
      <p:sp>
        <p:nvSpPr>
          <p:cNvPr id="5" name="Text 3"/>
          <p:cNvSpPr/>
          <p:nvPr/>
        </p:nvSpPr>
        <p:spPr>
          <a:xfrm>
            <a:off x="685800" y="3028950"/>
            <a:ext cx="1082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650" b="1" dirty="0">
                <a:solidFill>
                  <a:srgbClr val="E9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背景与现状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447800" y="3981450"/>
            <a:ext cx="92964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25" dirty="0">
                <a:solidFill>
                  <a:srgbClr val="8DB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企业级AI从试点走向规模化，但生产环境落地率仍低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685800" y="6400800"/>
            <a:ext cx="762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DB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2024年企业级AI应用落地调研报告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0363200" y="640080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8DB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858500" y="-11811000"/>
            <a:ext cx="18097500" cy="18097500"/>
          </a:xfrm>
          <a:prstGeom prst="ellipse">
            <a:avLst/>
          </a:prstGeom>
          <a:solidFill>
            <a:srgbClr val="32D69B">
              <a:alpha val="6000"/>
            </a:srgbClr>
          </a:solidFill>
          <a:ln w="12700">
            <a:solidFill>
              <a:srgbClr val="0C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4500" y="5334000"/>
            <a:ext cx="10477500" cy="10477500"/>
          </a:xfrm>
          <a:prstGeom prst="ellipse">
            <a:avLst/>
          </a:prstGeom>
          <a:solidFill>
            <a:srgbClr val="A9E05F">
              <a:alpha val="4000"/>
            </a:srgbClr>
          </a:solidFill>
          <a:ln w="12700">
            <a:solidFill>
              <a:srgbClr val="0C1F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14350"/>
            <a:ext cx="10820400" cy="50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50" b="1" dirty="0">
                <a:solidFill>
                  <a:srgbClr val="E9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部署与落地之间的落差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685800" y="2482977"/>
            <a:ext cx="5286375" cy="2476500"/>
          </a:xfrm>
          <a:prstGeom prst="roundRect">
            <a:avLst>
              <a:gd name="adj" fmla="val 2215"/>
            </a:avLst>
          </a:prstGeom>
          <a:solidFill>
            <a:srgbClr val="123026"/>
          </a:solidFill>
          <a:ln w="12700">
            <a:solidFill>
              <a:srgbClr val="1B3A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077337"/>
            <a:ext cx="4829175" cy="8420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32D6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63%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914400" y="3968877"/>
            <a:ext cx="482917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75" dirty="0">
                <a:solidFill>
                  <a:srgbClr val="8DB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已在至少一个业务环节部署大模型能力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6219825" y="2482977"/>
            <a:ext cx="5286375" cy="2476500"/>
          </a:xfrm>
          <a:prstGeom prst="roundRect">
            <a:avLst>
              <a:gd name="adj" fmla="val 2215"/>
            </a:avLst>
          </a:prstGeom>
          <a:solidFill>
            <a:srgbClr val="123026"/>
          </a:solidFill>
          <a:ln w="12700">
            <a:solidFill>
              <a:srgbClr val="1B3A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8425" y="3077337"/>
            <a:ext cx="4829175" cy="8420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32D6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14%</a:t>
            </a:r>
            <a:endParaRPr lang="en-US" sz="4350" dirty="0"/>
          </a:p>
        </p:txBody>
      </p:sp>
      <p:sp>
        <p:nvSpPr>
          <p:cNvPr id="10" name="Text 8"/>
          <p:cNvSpPr/>
          <p:nvPr/>
        </p:nvSpPr>
        <p:spPr>
          <a:xfrm>
            <a:off x="6448425" y="3968877"/>
            <a:ext cx="482917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75" dirty="0">
                <a:solidFill>
                  <a:srgbClr val="8DB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进入生产环境、日均调用超10万次的企业占比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685800" y="6400800"/>
            <a:ext cx="762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DB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2024年企业级AI应用落地调研报告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0363200" y="640080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8DB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858500" y="-11811000"/>
            <a:ext cx="18097500" cy="18097500"/>
          </a:xfrm>
          <a:prstGeom prst="ellipse">
            <a:avLst/>
          </a:prstGeom>
          <a:solidFill>
            <a:srgbClr val="32D69B">
              <a:alpha val="6000"/>
            </a:srgbClr>
          </a:solidFill>
          <a:ln w="12700">
            <a:solidFill>
              <a:srgbClr val="0C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4500" y="5334000"/>
            <a:ext cx="10477500" cy="10477500"/>
          </a:xfrm>
          <a:prstGeom prst="ellipse">
            <a:avLst/>
          </a:prstGeom>
          <a:solidFill>
            <a:srgbClr val="A9E05F">
              <a:alpha val="4000"/>
            </a:srgbClr>
          </a:solidFill>
          <a:ln w="12700">
            <a:solidFill>
              <a:srgbClr val="0C1F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514350"/>
            <a:ext cx="438150" cy="438150"/>
          </a:xfrm>
          <a:prstGeom prst="roundRect">
            <a:avLst>
              <a:gd name="adj" fmla="val 12522"/>
            </a:avLst>
          </a:prstGeom>
          <a:solidFill>
            <a:srgbClr val="123026"/>
          </a:solidFill>
          <a:ln w="12700">
            <a:solidFill>
              <a:srgbClr val="1B3A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14350"/>
            <a:ext cx="438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085850"/>
            <a:ext cx="10820400" cy="50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50" b="1" dirty="0">
                <a:solidFill>
                  <a:srgbClr val="E9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三类典型应用场景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 rot="2700000">
            <a:off x="723900" y="3322130"/>
            <a:ext cx="114300" cy="114300"/>
          </a:xfrm>
          <a:prstGeom prst="rect">
            <a:avLst/>
          </a:prstGeom>
          <a:solidFill>
            <a:srgbClr val="32D69B"/>
          </a:solidFill>
          <a:ln w="12700">
            <a:solidFill>
              <a:srgbClr val="32D69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9650" y="3173540"/>
            <a:ext cx="104965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dirty="0">
                <a:solidFill>
                  <a:srgbClr val="E9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知识密集型：检索时间从25分钟压缩到90秒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 rot="2700000">
            <a:off x="723900" y="3941255"/>
            <a:ext cx="114300" cy="114300"/>
          </a:xfrm>
          <a:prstGeom prst="rect">
            <a:avLst/>
          </a:prstGeom>
          <a:solidFill>
            <a:srgbClr val="32D69B"/>
          </a:solidFill>
          <a:ln w="12700">
            <a:solidFill>
              <a:srgbClr val="32D6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9650" y="3792665"/>
            <a:ext cx="104965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dirty="0">
                <a:solidFill>
                  <a:srgbClr val="E9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流程自动化：某制造企业月度对账从7天缩短到4小时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 rot="2700000">
            <a:off x="723900" y="4560380"/>
            <a:ext cx="114300" cy="114300"/>
          </a:xfrm>
          <a:prstGeom prst="rect">
            <a:avLst/>
          </a:prstGeom>
          <a:solidFill>
            <a:srgbClr val="32D69B"/>
          </a:solidFill>
          <a:ln w="12700">
            <a:solidFill>
              <a:srgbClr val="32D6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9650" y="4411790"/>
            <a:ext cx="104965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dirty="0">
                <a:solidFill>
                  <a:srgbClr val="E9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创意生成：主要降低试错成本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85800" y="6400800"/>
            <a:ext cx="762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DB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2024年企业级AI应用落地调研报告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0363200" y="640080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8DB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858500" y="-11811000"/>
            <a:ext cx="18097500" cy="18097500"/>
          </a:xfrm>
          <a:prstGeom prst="ellipse">
            <a:avLst/>
          </a:prstGeom>
          <a:solidFill>
            <a:srgbClr val="32D69B">
              <a:alpha val="6000"/>
            </a:srgbClr>
          </a:solidFill>
          <a:ln w="12700">
            <a:solidFill>
              <a:srgbClr val="0C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4500" y="5334000"/>
            <a:ext cx="10477500" cy="10477500"/>
          </a:xfrm>
          <a:prstGeom prst="ellipse">
            <a:avLst/>
          </a:prstGeom>
          <a:solidFill>
            <a:srgbClr val="A9E05F">
              <a:alpha val="4000"/>
            </a:srgbClr>
          </a:solidFill>
          <a:ln w="12700">
            <a:solidFill>
              <a:srgbClr val="0C1F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14350"/>
            <a:ext cx="10820400" cy="50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50" b="1" dirty="0">
                <a:solidFill>
                  <a:srgbClr val="E9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失败原因与成本结构变化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685800" y="2556796"/>
            <a:ext cx="5295900" cy="2328863"/>
          </a:xfrm>
          <a:prstGeom prst="roundRect">
            <a:avLst>
              <a:gd name="adj" fmla="val 1963"/>
            </a:avLst>
          </a:prstGeom>
          <a:solidFill>
            <a:srgbClr val="123026"/>
          </a:solidFill>
          <a:ln w="12700">
            <a:solidFill>
              <a:srgbClr val="1B3A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3450" y="2766346"/>
            <a:ext cx="4800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2D6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项目失败原因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 rot="2700000">
            <a:off x="933450" y="3342608"/>
            <a:ext cx="85725" cy="85725"/>
          </a:xfrm>
          <a:prstGeom prst="rect">
            <a:avLst/>
          </a:prstGeom>
          <a:solidFill>
            <a:srgbClr val="32D69B"/>
          </a:solidFill>
          <a:ln w="12700">
            <a:solidFill>
              <a:srgbClr val="32D69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223546"/>
            <a:ext cx="455295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9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58%源于数据准备不足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 rot="2700000">
            <a:off x="933450" y="3833146"/>
            <a:ext cx="85725" cy="85725"/>
          </a:xfrm>
          <a:prstGeom prst="rect">
            <a:avLst/>
          </a:prstGeom>
          <a:solidFill>
            <a:srgbClr val="32D69B"/>
          </a:solidFill>
          <a:ln w="12700">
            <a:solidFill>
              <a:srgbClr val="32D6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714083"/>
            <a:ext cx="455295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9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31%源于评价体系缺失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 rot="2700000">
            <a:off x="933450" y="4323683"/>
            <a:ext cx="85725" cy="85725"/>
          </a:xfrm>
          <a:prstGeom prst="rect">
            <a:avLst/>
          </a:prstGeom>
          <a:solidFill>
            <a:srgbClr val="32D69B"/>
          </a:solidFill>
          <a:ln w="12700">
            <a:solidFill>
              <a:srgbClr val="32D6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4204621"/>
            <a:ext cx="455295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9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22%源于组织协同问题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6210300" y="2556796"/>
            <a:ext cx="5295900" cy="2328863"/>
          </a:xfrm>
          <a:prstGeom prst="roundRect">
            <a:avLst>
              <a:gd name="adj" fmla="val 1963"/>
            </a:avLst>
          </a:prstGeom>
          <a:solidFill>
            <a:srgbClr val="123026"/>
          </a:solidFill>
          <a:ln w="12700">
            <a:solidFill>
              <a:srgbClr val="1B3A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7950" y="2766346"/>
            <a:ext cx="4800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2D6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成本结构演变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 rot="2700000">
            <a:off x="6457950" y="3342608"/>
            <a:ext cx="85725" cy="85725"/>
          </a:xfrm>
          <a:prstGeom prst="rect">
            <a:avLst/>
          </a:prstGeom>
          <a:solidFill>
            <a:srgbClr val="32D69B"/>
          </a:solidFill>
          <a:ln w="12700">
            <a:solidFill>
              <a:srgbClr val="32D69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67500" y="3223546"/>
            <a:ext cx="455295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9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推理成本占比从61%降至38%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 rot="2700000">
            <a:off x="6457950" y="3833146"/>
            <a:ext cx="85725" cy="85725"/>
          </a:xfrm>
          <a:prstGeom prst="rect">
            <a:avLst/>
          </a:prstGeom>
          <a:solidFill>
            <a:srgbClr val="32D69B"/>
          </a:solidFill>
          <a:ln w="12700">
            <a:solidFill>
              <a:srgbClr val="32D69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67500" y="3714083"/>
            <a:ext cx="455295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9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数据治理与工程化投入从19%升至41%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685800" y="6400800"/>
            <a:ext cx="762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DB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2024年企业级AI应用落地调研报告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0363200" y="640080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8DB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858500" y="-11811000"/>
            <a:ext cx="18097500" cy="18097500"/>
          </a:xfrm>
          <a:prstGeom prst="ellipse">
            <a:avLst/>
          </a:prstGeom>
          <a:solidFill>
            <a:srgbClr val="32D69B">
              <a:alpha val="6000"/>
            </a:srgbClr>
          </a:solidFill>
          <a:ln w="12700">
            <a:solidFill>
              <a:srgbClr val="0C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4500" y="5334000"/>
            <a:ext cx="10477500" cy="10477500"/>
          </a:xfrm>
          <a:prstGeom prst="ellipse">
            <a:avLst/>
          </a:prstGeom>
          <a:solidFill>
            <a:srgbClr val="A9E05F">
              <a:alpha val="4000"/>
            </a:srgbClr>
          </a:solidFill>
          <a:ln w="12700">
            <a:solidFill>
              <a:srgbClr val="0C1F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2619375"/>
            <a:ext cx="10820400" cy="1695450"/>
          </a:xfrm>
          <a:prstGeom prst="roundRect">
            <a:avLst>
              <a:gd name="adj" fmla="val 2697"/>
            </a:avLst>
          </a:prstGeom>
          <a:solidFill>
            <a:srgbClr val="0E251D"/>
          </a:solidFill>
          <a:ln w="12700">
            <a:solidFill>
              <a:srgbClr val="1B3A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619375"/>
            <a:ext cx="57150" cy="1695450"/>
          </a:xfrm>
          <a:prstGeom prst="rect">
            <a:avLst/>
          </a:prstGeom>
          <a:solidFill>
            <a:srgbClr val="32D69B"/>
          </a:solidFill>
          <a:ln w="12700">
            <a:solidFill>
              <a:srgbClr val="32D6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250" y="2657475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32D69B">
                    <a:alpha val="4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162050" y="3000375"/>
            <a:ext cx="9867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E9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从有明确量化指标的单点场景切入，快速验证再扩大投入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62050" y="3781425"/>
            <a:ext cx="9867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8DB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调研行动建议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685800" y="6400800"/>
            <a:ext cx="762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DB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2024年企业级AI应用落地调研报告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0363200" y="640080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8DB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858500" y="-11811000"/>
            <a:ext cx="18097500" cy="18097500"/>
          </a:xfrm>
          <a:prstGeom prst="ellipse">
            <a:avLst/>
          </a:prstGeom>
          <a:solidFill>
            <a:srgbClr val="32D69B">
              <a:alpha val="6000"/>
            </a:srgbClr>
          </a:solidFill>
          <a:ln w="12700">
            <a:solidFill>
              <a:srgbClr val="0C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4500" y="5334000"/>
            <a:ext cx="10477500" cy="10477500"/>
          </a:xfrm>
          <a:prstGeom prst="ellipse">
            <a:avLst/>
          </a:prstGeom>
          <a:solidFill>
            <a:srgbClr val="A9E05F">
              <a:alpha val="4000"/>
            </a:srgbClr>
          </a:solidFill>
          <a:ln w="12700">
            <a:solidFill>
              <a:srgbClr val="0C1F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14350"/>
            <a:ext cx="10820400" cy="50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50" b="1" dirty="0">
                <a:solidFill>
                  <a:srgbClr val="E9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行动建议路线图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685800" y="2076260"/>
            <a:ext cx="438150" cy="438150"/>
          </a:xfrm>
          <a:prstGeom prst="ellipse">
            <a:avLst/>
          </a:prstGeom>
          <a:solidFill>
            <a:srgbClr val="32D69B"/>
          </a:solidFill>
          <a:ln w="12700">
            <a:solidFill>
              <a:srgbClr val="32D6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76260"/>
            <a:ext cx="438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14450" y="2076260"/>
            <a:ext cx="10191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E9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单点切入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314450" y="2400110"/>
            <a:ext cx="10191750" cy="36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75" dirty="0">
                <a:solidFill>
                  <a:srgbClr val="8DB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选择有明确量化指标的场景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685800" y="2932081"/>
            <a:ext cx="438150" cy="438150"/>
          </a:xfrm>
          <a:prstGeom prst="ellipse">
            <a:avLst/>
          </a:prstGeom>
          <a:solidFill>
            <a:srgbClr val="32D69B"/>
          </a:solidFill>
          <a:ln w="12700">
            <a:solidFill>
              <a:srgbClr val="32D6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932081"/>
            <a:ext cx="438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14450" y="2932081"/>
            <a:ext cx="10191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E9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数据治理前置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314450" y="3255931"/>
            <a:ext cx="10191750" cy="36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75" dirty="0">
                <a:solidFill>
                  <a:srgbClr val="8DB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先解决数据准备问题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685800" y="3787902"/>
            <a:ext cx="438150" cy="438150"/>
          </a:xfrm>
          <a:prstGeom prst="ellipse">
            <a:avLst/>
          </a:prstGeom>
          <a:solidFill>
            <a:srgbClr val="32D69B"/>
          </a:solidFill>
          <a:ln w="12700">
            <a:solidFill>
              <a:srgbClr val="32D6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787902"/>
            <a:ext cx="438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14450" y="3787902"/>
            <a:ext cx="10191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E9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双层评价体系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1314450" y="4111752"/>
            <a:ext cx="10191750" cy="36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75" dirty="0">
                <a:solidFill>
                  <a:srgbClr val="8DB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技术层与业务层分别评估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685800" y="4643723"/>
            <a:ext cx="438150" cy="438150"/>
          </a:xfrm>
          <a:prstGeom prst="ellipse">
            <a:avLst/>
          </a:prstGeom>
          <a:solidFill>
            <a:srgbClr val="32D69B"/>
          </a:solidFill>
          <a:ln w="12700">
            <a:solidFill>
              <a:srgbClr val="32D69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643723"/>
            <a:ext cx="438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3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14450" y="4643723"/>
            <a:ext cx="10191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E9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6-8周闭环验证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314450" y="4967573"/>
            <a:ext cx="10191750" cy="36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75" dirty="0">
                <a:solidFill>
                  <a:srgbClr val="8DB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完成一次闭环再决定扩大投入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685800" y="6400800"/>
            <a:ext cx="762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DB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2024年企业级AI应用落地调研报告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0363200" y="640080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8DB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858500" y="-11811000"/>
            <a:ext cx="18097500" cy="18097500"/>
          </a:xfrm>
          <a:prstGeom prst="ellipse">
            <a:avLst/>
          </a:prstGeom>
          <a:solidFill>
            <a:srgbClr val="32D69B">
              <a:alpha val="6000"/>
            </a:srgbClr>
          </a:solidFill>
          <a:ln w="12700">
            <a:solidFill>
              <a:srgbClr val="0C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4500" y="5334000"/>
            <a:ext cx="10477500" cy="10477500"/>
          </a:xfrm>
          <a:prstGeom prst="ellipse">
            <a:avLst/>
          </a:prstGeom>
          <a:solidFill>
            <a:srgbClr val="A9E05F">
              <a:alpha val="4000"/>
            </a:srgbClr>
          </a:solidFill>
          <a:ln w="12700">
            <a:solidFill>
              <a:srgbClr val="0C1F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2381250"/>
            <a:ext cx="108204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50" b="1" dirty="0">
                <a:solidFill>
                  <a:srgbClr val="E9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1257300" y="3905250"/>
            <a:ext cx="96774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DB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欢迎进一步交流企业级AI落地经验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57850" y="2133600"/>
            <a:ext cx="876300" cy="57150"/>
          </a:xfrm>
          <a:prstGeom prst="roundRect">
            <a:avLst>
              <a:gd name="adj" fmla="val 48000"/>
            </a:avLst>
          </a:prstGeom>
          <a:solidFill>
            <a:srgbClr val="32D69B"/>
          </a:solidFill>
          <a:ln w="12700">
            <a:solidFill>
              <a:srgbClr val="32D6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6400800"/>
            <a:ext cx="762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DB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2024年企业级AI应用落地调研报告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0363200" y="640080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8DB3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AI 网页 PPT 生成器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2024年企业级AI应用落地调研报告</dc:title>
  <dc:subject>从试点到规模化：关键数据与行动建议</dc:subject>
  <dc:creator>AI 网页 PPT 生成器</dc:creator>
  <cp:lastModifiedBy>AI 网页 PPT 生成器</cp:lastModifiedBy>
  <cp:revision>1</cp:revision>
  <dcterms:created xsi:type="dcterms:W3CDTF">2026-10-10T11:27:01Z</dcterms:created>
  <dcterms:modified xsi:type="dcterms:W3CDTF">2026-10-10T11:27:01Z</dcterms:modified>
</cp:coreProperties>
</file>